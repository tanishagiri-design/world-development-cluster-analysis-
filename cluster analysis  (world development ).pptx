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2" r:id="rId1"/>
  </p:sldMasterIdLst>
  <p:notesMasterIdLst>
    <p:notesMasterId r:id="rId19"/>
  </p:notesMasterIdLst>
  <p:sldIdLst>
    <p:sldId id="308" r:id="rId2"/>
    <p:sldId id="258" r:id="rId3"/>
    <p:sldId id="260" r:id="rId4"/>
    <p:sldId id="261" r:id="rId5"/>
    <p:sldId id="262" r:id="rId6"/>
    <p:sldId id="264" r:id="rId7"/>
    <p:sldId id="292" r:id="rId8"/>
    <p:sldId id="286" r:id="rId9"/>
    <p:sldId id="295" r:id="rId10"/>
    <p:sldId id="302" r:id="rId11"/>
    <p:sldId id="303" r:id="rId12"/>
    <p:sldId id="304" r:id="rId13"/>
    <p:sldId id="305" r:id="rId14"/>
    <p:sldId id="306" r:id="rId15"/>
    <p:sldId id="309" r:id="rId16"/>
    <p:sldId id="307" r:id="rId17"/>
    <p:sldId id="285" r:id="rId18"/>
  </p:sldIdLst>
  <p:sldSz cx="12192000" cy="6858000"/>
  <p:notesSz cx="6858000" cy="9144000"/>
  <p:embeddedFontLst>
    <p:embeddedFont>
      <p:font typeface="Arial Black" panose="020B0A04020102020204" pitchFamily="34" charset="0"/>
      <p:regular r:id="rId20"/>
      <p:bold r:id="rId21"/>
    </p:embeddedFont>
    <p:embeddedFont>
      <p:font typeface="Tw Cen MT" panose="020B0602020104020603" pitchFamily="34" charset="0"/>
      <p:regular r:id="rId22"/>
      <p:bold r:id="rId23"/>
      <p:italic r:id="rId24"/>
      <p:boldItalic r:id="rId25"/>
    </p:embeddedFont>
    <p:embeddedFont>
      <p:font typeface="Tw Cen MT Condensed" panose="020B0606020104020203" pitchFamily="34" charset="0"/>
      <p:regular r:id="rId26"/>
      <p:bold r:id="rId27"/>
    </p:embeddedFont>
    <p:embeddedFont>
      <p:font typeface="Wingdings 3" panose="05040102010807070707" pitchFamily="18" charset="2"/>
      <p:regular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g9QTfEhVKu0C0EfSExmJltFUBi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718C9B-42BD-457F-8D96-9F64AC1CB8C2}">
  <a:tblStyle styleId="{BC718C9B-42BD-457F-8D96-9F64AC1CB8C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5F6"/>
          </a:solidFill>
        </a:fill>
      </a:tcStyle>
    </a:wholeTbl>
    <a:band1H>
      <a:tcTxStyle b="off" i="off"/>
      <a:tcStyle>
        <a:tcBdr/>
        <a:fill>
          <a:solidFill>
            <a:srgbClr val="CBEAEC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BEAEC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7" autoAdjust="0"/>
    <p:restoredTop sz="94206" autoAdjust="0"/>
  </p:normalViewPr>
  <p:slideViewPr>
    <p:cSldViewPr snapToGrid="0" showGuides="1">
      <p:cViewPr varScale="1">
        <p:scale>
          <a:sx n="70" d="100"/>
          <a:sy n="70" d="100"/>
        </p:scale>
        <p:origin x="6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70689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e7f7290842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6" name="Google Shape;306;g1e7f7290842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098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797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349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181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8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15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27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12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5174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75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154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1695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81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0B370-A588-413C-A591-5C422DD7F9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World Development Measurement</a:t>
            </a:r>
            <a:endParaRPr lang="en-IN" sz="3000" b="1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82756E-A788-46F1-836F-C1BB2E5407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group-3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8578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482AB"/>
              </a:buClr>
              <a:buSzPts val="3600"/>
              <a:buFont typeface="Arial Black"/>
              <a:buNone/>
            </a:pPr>
            <a:r>
              <a:rPr lang="en-US" sz="3600" dirty="0">
                <a:solidFill>
                  <a:srgbClr val="1482AB"/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Objective: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4"/>
          <p:cNvSpPr txBox="1">
            <a:spLocks noGrp="1"/>
          </p:cNvSpPr>
          <p:nvPr>
            <p:ph idx="1"/>
          </p:nvPr>
        </p:nvSpPr>
        <p:spPr>
          <a:xfrm>
            <a:off x="1150443" y="2494129"/>
            <a:ext cx="9375790" cy="1929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9144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 sz="1600" dirty="0">
                <a:effectLst/>
                <a:latin typeface="Time new roman"/>
                <a:ea typeface="Arial" panose="020B0604020202020204" pitchFamily="34" charset="0"/>
              </a:rPr>
              <a:t>Creating clusters on the global development measurement dataset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 sz="1600" dirty="0">
                <a:effectLst/>
                <a:latin typeface="Time new roman"/>
                <a:ea typeface="Arial" panose="020B0604020202020204" pitchFamily="34" charset="0"/>
              </a:rPr>
              <a:t>The dataset has information about important economic and development metrics related to various countries across the globe.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IN" sz="1600" dirty="0">
              <a:effectLst/>
              <a:latin typeface="Time new roman"/>
              <a:ea typeface="Arial" panose="020B0604020202020204" pitchFamily="34" charset="0"/>
            </a:endParaRPr>
          </a:p>
          <a:p>
            <a:pPr marL="91440" lvl="0" indent="-9144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endParaRPr lang="en-US" sz="2400" b="1" dirty="0">
              <a:solidFill>
                <a:srgbClr val="1482AB"/>
              </a:solidFill>
              <a:latin typeface="Time new roman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>
            <a:spLocks noGrp="1"/>
          </p:cNvSpPr>
          <p:nvPr>
            <p:ph type="title" idx="4294967295"/>
          </p:nvPr>
        </p:nvSpPr>
        <p:spPr>
          <a:xfrm>
            <a:off x="0" y="495300"/>
            <a:ext cx="10058400" cy="103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482AB"/>
              </a:buClr>
              <a:buSzPts val="3600"/>
              <a:buFont typeface="Arial Black"/>
              <a:buNone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        Project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Flow:</a:t>
            </a:r>
            <a:endParaRPr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7" name="Google Shape;127;p5"/>
          <p:cNvGrpSpPr/>
          <p:nvPr/>
        </p:nvGrpSpPr>
        <p:grpSpPr>
          <a:xfrm>
            <a:off x="1182423" y="2004173"/>
            <a:ext cx="8614690" cy="3569984"/>
            <a:chOff x="421291" y="750971"/>
            <a:chExt cx="9512612" cy="295362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32" name="Google Shape;132;p5"/>
            <p:cNvSpPr/>
            <p:nvPr/>
          </p:nvSpPr>
          <p:spPr>
            <a:xfrm>
              <a:off x="671469" y="801006"/>
              <a:ext cx="9262434" cy="400283"/>
            </a:xfrm>
            <a:prstGeom prst="rect">
              <a:avLst/>
            </a:prstGeom>
            <a:grpFill/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5"/>
            <p:cNvSpPr txBox="1"/>
            <p:nvPr/>
          </p:nvSpPr>
          <p:spPr>
            <a:xfrm>
              <a:off x="671469" y="801006"/>
              <a:ext cx="9262434" cy="40028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317725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Dataset Understanding</a:t>
              </a:r>
              <a:endParaRPr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421292" y="750971"/>
              <a:ext cx="500353" cy="500353"/>
            </a:xfrm>
            <a:prstGeom prst="ellipse">
              <a:avLst/>
            </a:prstGeom>
            <a:grpFill/>
            <a:ln w="15875" cap="flat" cmpd="sng">
              <a:solidFill>
                <a:srgbClr val="258B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870113" y="1401343"/>
              <a:ext cx="9063790" cy="400283"/>
            </a:xfrm>
            <a:prstGeom prst="rect">
              <a:avLst/>
            </a:prstGeom>
            <a:grpFill/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"/>
            <p:cNvSpPr txBox="1"/>
            <p:nvPr/>
          </p:nvSpPr>
          <p:spPr>
            <a:xfrm>
              <a:off x="870113" y="1401343"/>
              <a:ext cx="9063790" cy="40028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317725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EDA process</a:t>
              </a:r>
              <a:endParaRPr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619936" y="1351307"/>
              <a:ext cx="500353" cy="500353"/>
            </a:xfrm>
            <a:prstGeom prst="ellipse">
              <a:avLst/>
            </a:prstGeom>
            <a:grpFill/>
            <a:ln w="15875" cap="flat" cmpd="sng">
              <a:solidFill>
                <a:srgbClr val="2596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933538" y="2002120"/>
              <a:ext cx="9000365" cy="400283"/>
            </a:xfrm>
            <a:prstGeom prst="rect">
              <a:avLst/>
            </a:prstGeom>
            <a:grpFill/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5"/>
            <p:cNvSpPr txBox="1"/>
            <p:nvPr/>
          </p:nvSpPr>
          <p:spPr>
            <a:xfrm>
              <a:off x="933538" y="2002120"/>
              <a:ext cx="9000365" cy="40028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317725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lang="en-US" sz="20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Feature</a:t>
              </a:r>
              <a:r>
                <a:rPr lang="en-US" sz="2000" b="1" i="0" u="none" strike="noStrike" cap="none">
                  <a:solidFill>
                    <a:srgbClr val="002776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0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Engineering</a:t>
              </a:r>
              <a:endPara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683361" y="1952085"/>
              <a:ext cx="500353" cy="500353"/>
            </a:xfrm>
            <a:prstGeom prst="ellipse">
              <a:avLst/>
            </a:prstGeom>
            <a:grpFill/>
            <a:ln w="15875" cap="flat" cmpd="sng">
              <a:solidFill>
                <a:srgbClr val="25A1C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870113" y="2602897"/>
              <a:ext cx="9063790" cy="400283"/>
            </a:xfrm>
            <a:prstGeom prst="rect">
              <a:avLst/>
            </a:prstGeom>
            <a:grpFill/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5"/>
            <p:cNvSpPr txBox="1"/>
            <p:nvPr/>
          </p:nvSpPr>
          <p:spPr>
            <a:xfrm>
              <a:off x="870113" y="2602897"/>
              <a:ext cx="9063790" cy="40028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317725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Model Building</a:t>
              </a:r>
              <a:endParaRPr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619936" y="2552862"/>
              <a:ext cx="500353" cy="500353"/>
            </a:xfrm>
            <a:prstGeom prst="ellipse">
              <a:avLst/>
            </a:prstGeom>
            <a:grpFill/>
            <a:ln w="15875" cap="flat" cmpd="sng">
              <a:solidFill>
                <a:srgbClr val="25ACC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5"/>
            <p:cNvSpPr txBox="1"/>
            <p:nvPr/>
          </p:nvSpPr>
          <p:spPr>
            <a:xfrm>
              <a:off x="799737" y="3294052"/>
              <a:ext cx="9134166" cy="40028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317725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Deployment</a:t>
              </a:r>
              <a:endParaRPr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421291" y="3204239"/>
              <a:ext cx="500353" cy="500353"/>
            </a:xfrm>
            <a:prstGeom prst="ellipse">
              <a:avLst/>
            </a:prstGeom>
            <a:grpFill/>
            <a:ln w="15875" cap="flat" cmpd="sng">
              <a:solidFill>
                <a:srgbClr val="26C3C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482AB"/>
              </a:buClr>
              <a:buSzPts val="3600"/>
              <a:buFont typeface="Arial Black"/>
              <a:buNone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Data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Set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Details: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Google Shape;155;p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dirty="0">
                <a:latin typeface="Time new roman"/>
              </a:rPr>
              <a:t>The data file contains </a:t>
            </a:r>
            <a:r>
              <a:rPr lang="en-US" b="1" dirty="0">
                <a:latin typeface="Time new roman"/>
              </a:rPr>
              <a:t>2708</a:t>
            </a:r>
            <a:r>
              <a:rPr lang="en-US" dirty="0">
                <a:latin typeface="Time new roman"/>
              </a:rPr>
              <a:t> </a:t>
            </a:r>
            <a:r>
              <a:rPr lang="en-US" b="1" dirty="0">
                <a:latin typeface="Time new roman"/>
              </a:rPr>
              <a:t>observations </a:t>
            </a:r>
            <a:r>
              <a:rPr lang="en-US" dirty="0">
                <a:latin typeface="Time new roman"/>
              </a:rPr>
              <a:t>with </a:t>
            </a:r>
            <a:r>
              <a:rPr lang="en-US" b="1" dirty="0">
                <a:latin typeface="Time new roman"/>
              </a:rPr>
              <a:t>25 variables and </a:t>
            </a:r>
            <a:r>
              <a:rPr lang="en-IN" sz="1800" dirty="0">
                <a:effectLst/>
                <a:latin typeface="Time new roman"/>
                <a:ea typeface="Arial" panose="020B0604020202020204" pitchFamily="34" charset="0"/>
              </a:rPr>
              <a:t>has information about important economic and development metrics related to various countries across the globe.</a:t>
            </a:r>
            <a:endParaRPr lang="en-US" b="1" dirty="0">
              <a:latin typeface="Time new roman"/>
            </a:endParaRPr>
          </a:p>
          <a:p>
            <a:pPr marL="0" lvl="0" indent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b="1" i="1" dirty="0">
                <a:solidFill>
                  <a:srgbClr val="00B0F0"/>
                </a:solidFill>
                <a:latin typeface="Time new roman"/>
              </a:rPr>
              <a:t>The variables, or features, are the following:</a:t>
            </a:r>
            <a:endParaRPr b="1" dirty="0">
              <a:solidFill>
                <a:srgbClr val="00B0F0"/>
              </a:solidFill>
              <a:latin typeface="Time new roman"/>
            </a:endParaRPr>
          </a:p>
          <a:p>
            <a:pPr lvl="0" algn="l" rtl="0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IN" b="1" dirty="0">
                <a:effectLst/>
                <a:latin typeface="Time new roman"/>
                <a:ea typeface="Arial" panose="020B0604020202020204" pitchFamily="34" charset="0"/>
              </a:rPr>
              <a:t>Birth Rate, Business tax, CO2emissions, Country, Days to start a business, Ease of business, energy usage, GDP, </a:t>
            </a:r>
            <a:r>
              <a:rPr lang="en-IN" b="1" dirty="0" err="1">
                <a:effectLst/>
                <a:latin typeface="Time new roman"/>
                <a:ea typeface="Arial" panose="020B0604020202020204" pitchFamily="34" charset="0"/>
              </a:rPr>
              <a:t>healthexp%GDP</a:t>
            </a:r>
            <a:r>
              <a:rPr lang="en-IN" b="1" dirty="0">
                <a:effectLst/>
                <a:latin typeface="Time new roman"/>
                <a:ea typeface="Arial" panose="020B0604020202020204" pitchFamily="34" charset="0"/>
              </a:rPr>
              <a:t>, </a:t>
            </a:r>
            <a:r>
              <a:rPr lang="en-IN" b="1" dirty="0" err="1">
                <a:effectLst/>
                <a:latin typeface="Time new roman"/>
                <a:ea typeface="Arial" panose="020B0604020202020204" pitchFamily="34" charset="0"/>
              </a:rPr>
              <a:t>healthexp</a:t>
            </a:r>
            <a:r>
              <a:rPr lang="en-IN" b="1" dirty="0">
                <a:effectLst/>
                <a:latin typeface="Time new roman"/>
                <a:ea typeface="Arial" panose="020B0604020202020204" pitchFamily="34" charset="0"/>
              </a:rPr>
              <a:t>/capita, hours to do tax, infant mortality, internet usage, lending rate, life expectancy female, etc.</a:t>
            </a:r>
            <a:endParaRPr b="1" dirty="0">
              <a:latin typeface="Time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 dirty="0">
              <a:latin typeface="Time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 txBox="1">
            <a:spLocks noGrp="1"/>
          </p:cNvSpPr>
          <p:nvPr>
            <p:ph type="title"/>
          </p:nvPr>
        </p:nvSpPr>
        <p:spPr>
          <a:xfrm>
            <a:off x="1224871" y="1562510"/>
            <a:ext cx="10058400" cy="71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482AB"/>
              </a:buClr>
              <a:buSzPts val="4000"/>
              <a:buFont typeface="Arial Black"/>
              <a:buNone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Data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Set:</a:t>
            </a:r>
            <a:endParaRPr sz="3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Arial Black"/>
              <a:cs typeface="Times New Roman" panose="02020603050405020304" pitchFamily="18" charset="0"/>
              <a:sym typeface="Arial Black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C7E9E6-51E8-4665-83C2-DE9022569F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14180" y="2286000"/>
            <a:ext cx="9139777" cy="4022725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B471F-D62C-415D-B28F-E740315E4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392865"/>
            <a:ext cx="9601196" cy="893134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EDA:</a:t>
            </a:r>
            <a:endParaRPr lang="en-IN" sz="3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Google Shape;176;p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863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1900" dirty="0">
                <a:latin typeface="Time new roman"/>
              </a:rPr>
              <a:t>In the given dataset the datatype of the observations in each variable are </a:t>
            </a:r>
            <a:r>
              <a:rPr lang="en-US" sz="1900" b="1" dirty="0">
                <a:latin typeface="Time new roman"/>
              </a:rPr>
              <a:t>floating point datatypes.</a:t>
            </a:r>
            <a:endParaRPr sz="1900" dirty="0">
              <a:latin typeface="Time new roman"/>
            </a:endParaRPr>
          </a:p>
          <a:p>
            <a:pPr marL="91440" lvl="0" indent="-118635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1900" dirty="0">
                <a:latin typeface="Time new roman"/>
              </a:rPr>
              <a:t>In the data set each feature contains </a:t>
            </a:r>
            <a:r>
              <a:rPr lang="en-US" sz="1900" b="1" dirty="0">
                <a:latin typeface="Time new roman"/>
              </a:rPr>
              <a:t>null values</a:t>
            </a:r>
            <a:r>
              <a:rPr lang="en-US" sz="1900" dirty="0">
                <a:latin typeface="Time new roman"/>
              </a:rPr>
              <a:t>.</a:t>
            </a:r>
            <a:endParaRPr sz="1900" dirty="0">
              <a:latin typeface="Time new roman"/>
            </a:endParaRPr>
          </a:p>
          <a:p>
            <a:pPr marL="91440" lvl="0" indent="-118635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1900" dirty="0">
                <a:latin typeface="Time new roman"/>
              </a:rPr>
              <a:t>There are </a:t>
            </a:r>
            <a:r>
              <a:rPr lang="en-US" sz="1900" b="1" dirty="0">
                <a:latin typeface="Time new roman"/>
              </a:rPr>
              <a:t>no</a:t>
            </a:r>
            <a:r>
              <a:rPr lang="en-US" sz="1900" dirty="0">
                <a:latin typeface="Time new roman"/>
              </a:rPr>
              <a:t> </a:t>
            </a:r>
            <a:r>
              <a:rPr lang="en-US" sz="1900" b="1" dirty="0">
                <a:latin typeface="Time new roman"/>
              </a:rPr>
              <a:t>duplicate observations </a:t>
            </a:r>
            <a:r>
              <a:rPr lang="en-US" sz="1900" dirty="0">
                <a:latin typeface="Time new roman"/>
              </a:rPr>
              <a:t>present in the dataset.</a:t>
            </a:r>
          </a:p>
          <a:p>
            <a:pPr marL="91440" lvl="0" indent="-118635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1900" dirty="0">
                <a:latin typeface="Time new roman"/>
              </a:rPr>
              <a:t>There are a </a:t>
            </a:r>
            <a:r>
              <a:rPr lang="en-US" sz="1900" b="1" dirty="0">
                <a:latin typeface="Time new roman"/>
              </a:rPr>
              <a:t>total of 12203 null values </a:t>
            </a:r>
            <a:r>
              <a:rPr lang="en-US" sz="1900" dirty="0">
                <a:latin typeface="Time new roman"/>
              </a:rPr>
              <a:t>present in the dataset.</a:t>
            </a:r>
            <a:endParaRPr sz="1900" dirty="0">
              <a:latin typeface="Time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26762"/>
              <a:buNone/>
            </a:pPr>
            <a:endParaRPr sz="1800" dirty="0">
              <a:latin typeface="Time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 lang="en-US" sz="3800" dirty="0">
              <a:latin typeface="Time new roman"/>
            </a:endParaRPr>
          </a:p>
          <a:p>
            <a:pPr marL="91440" lvl="0" indent="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dirty="0">
              <a:latin typeface="Time new roman"/>
            </a:endParaRPr>
          </a:p>
          <a:p>
            <a:pPr marL="91440" lvl="0" indent="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dirty="0">
              <a:latin typeface="Time new roman"/>
            </a:endParaRPr>
          </a:p>
          <a:p>
            <a:pPr marL="91440" lvl="0" indent="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dirty="0">
              <a:latin typeface="Time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87654B-28EB-5A02-34BC-47F08A1C285D}"/>
              </a:ext>
            </a:extLst>
          </p:cNvPr>
          <p:cNvSpPr txBox="1"/>
          <p:nvPr/>
        </p:nvSpPr>
        <p:spPr>
          <a:xfrm>
            <a:off x="773039" y="681877"/>
            <a:ext cx="4626734" cy="5450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dirty="0">
              <a:latin typeface="Time new roman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 new roman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 new roman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Time new roman"/>
              </a:rPr>
              <a:t>Visualizing the null values for each attribute with SNS Heatmap.</a:t>
            </a:r>
          </a:p>
          <a:p>
            <a:pPr>
              <a:lnSpc>
                <a:spcPct val="150000"/>
              </a:lnSpc>
            </a:pPr>
            <a:endParaRPr lang="en-US" dirty="0">
              <a:latin typeface="Time new roman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 new roman"/>
              </a:rPr>
              <a:t>Ease of business contains more number of missing values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 new roman"/>
              </a:rPr>
              <a:t>Population urban having less number of missing values.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 new roman"/>
              </a:rPr>
              <a:t>There are no missing values in country and population total.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832914-4CCB-5CF8-0FB3-FFE6B7D51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419" y="681877"/>
            <a:ext cx="5730542" cy="549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870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E57004-ED83-41CD-8490-FC9B0D4B86A0}"/>
              </a:ext>
            </a:extLst>
          </p:cNvPr>
          <p:cNvSpPr txBox="1"/>
          <p:nvPr/>
        </p:nvSpPr>
        <p:spPr>
          <a:xfrm>
            <a:off x="703526" y="2267526"/>
            <a:ext cx="4055481" cy="3472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Time new roman"/>
                <a:cs typeface="Times New Roman" panose="02020603050405020304" pitchFamily="18" charset="0"/>
              </a:rPr>
              <a:t>VISUALIZATION: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Time new roman"/>
                <a:cs typeface="Times New Roman" panose="02020603050405020304" pitchFamily="18" charset="0"/>
              </a:rPr>
              <a:t>Distribution plots for each column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 new roman"/>
                <a:cs typeface="Times New Roman" panose="02020603050405020304" pitchFamily="18" charset="0"/>
              </a:rPr>
              <a:t>'</a:t>
            </a:r>
            <a:r>
              <a:rPr lang="en-US" sz="1500" dirty="0" err="1">
                <a:latin typeface="Time new roman"/>
                <a:cs typeface="Times New Roman" panose="02020603050405020304" pitchFamily="18" charset="0"/>
              </a:rPr>
              <a:t>BusinessTaxRate</a:t>
            </a:r>
            <a:r>
              <a:rPr lang="en-US" sz="1500" dirty="0">
                <a:latin typeface="Time new roman"/>
                <a:cs typeface="Times New Roman" panose="02020603050405020304" pitchFamily="18" charset="0"/>
              </a:rPr>
              <a:t>’,  '</a:t>
            </a:r>
            <a:r>
              <a:rPr lang="en-US" sz="1500" dirty="0" err="1">
                <a:latin typeface="Time new roman"/>
                <a:cs typeface="Times New Roman" panose="02020603050405020304" pitchFamily="18" charset="0"/>
              </a:rPr>
              <a:t>EaseofBusiness</a:t>
            </a:r>
            <a:r>
              <a:rPr lang="en-US" sz="1500" dirty="0">
                <a:latin typeface="Time new roman"/>
                <a:cs typeface="Times New Roman" panose="02020603050405020304" pitchFamily="18" charset="0"/>
              </a:rPr>
              <a:t>', '</a:t>
            </a:r>
            <a:r>
              <a:rPr lang="en-US" sz="1500" dirty="0" err="1">
                <a:latin typeface="Time new roman"/>
                <a:cs typeface="Times New Roman" panose="02020603050405020304" pitchFamily="18" charset="0"/>
              </a:rPr>
              <a:t>HealthExpGDP</a:t>
            </a:r>
            <a:r>
              <a:rPr lang="en-US" sz="1500" dirty="0">
                <a:latin typeface="Time new roman"/>
                <a:cs typeface="Times New Roman" panose="02020603050405020304" pitchFamily="18" charset="0"/>
              </a:rPr>
              <a:t>’,  '</a:t>
            </a:r>
            <a:r>
              <a:rPr lang="en-US" sz="1500" dirty="0" err="1">
                <a:latin typeface="Time new roman"/>
                <a:cs typeface="Times New Roman" panose="02020603050405020304" pitchFamily="18" charset="0"/>
              </a:rPr>
              <a:t>HourstodoTax</a:t>
            </a:r>
            <a:r>
              <a:rPr lang="en-US" sz="1500" dirty="0">
                <a:latin typeface="Time new roman"/>
                <a:cs typeface="Times New Roman" panose="02020603050405020304" pitchFamily="18" charset="0"/>
              </a:rPr>
              <a:t>' and 'Population0to14' columns have normal distribution so we replace missing values by mean.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 new roman"/>
                <a:cs typeface="Times New Roman" panose="02020603050405020304" pitchFamily="18" charset="0"/>
              </a:rPr>
              <a:t>And for remaining columns with skewed data we replace missing values by median.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D3F0F7-083C-D71D-2121-0D322BFD8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572" y="597588"/>
            <a:ext cx="7097227" cy="569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46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3D7AC5-4EC9-5F34-188C-9F47B3B0A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587" y="647974"/>
            <a:ext cx="6185044" cy="55827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BC976F-FEE2-17BE-E4CD-72B758E9F904}"/>
              </a:ext>
            </a:extLst>
          </p:cNvPr>
          <p:cNvSpPr txBox="1"/>
          <p:nvPr/>
        </p:nvSpPr>
        <p:spPr>
          <a:xfrm>
            <a:off x="493761" y="2254003"/>
            <a:ext cx="4623179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 new roman"/>
                <a:cs typeface="Times New Roman" panose="02020603050405020304" pitchFamily="18" charset="0"/>
              </a:rPr>
              <a:t>Visualizing Relation between variables: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0070C0"/>
              </a:solidFill>
              <a:latin typeface="Time new roman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 new roman"/>
              </a:rPr>
              <a:t> 'Population 0 to 14' and 'Birth Rate’ have a strong relation. (0.94)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 new roman"/>
              </a:rPr>
              <a:t>‘ Population 15 to 64’ and ‘Birth Rate’ have a weak relation. (0.90)</a:t>
            </a:r>
          </a:p>
        </p:txBody>
      </p:sp>
    </p:spTree>
    <p:extLst>
      <p:ext uri="{BB962C8B-B14F-4D97-AF65-F5344CB8AC3E}">
        <p14:creationId xmlns:p14="http://schemas.microsoft.com/office/powerpoint/2010/main" val="3095853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DE9852-A6D9-4870-CC30-79907F285D4B}"/>
              </a:ext>
            </a:extLst>
          </p:cNvPr>
          <p:cNvSpPr txBox="1"/>
          <p:nvPr/>
        </p:nvSpPr>
        <p:spPr>
          <a:xfrm>
            <a:off x="702687" y="748344"/>
            <a:ext cx="481404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Time new roman"/>
                <a:cs typeface="Times New Roman" panose="02020603050405020304" pitchFamily="18" charset="0"/>
              </a:rPr>
              <a:t>SCALING: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 new roman"/>
              </a:rPr>
              <a:t> Scaling is a technique to standardize the independent features present in the data in a fixed range. We do this to make sure all the features are in same 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 new roman"/>
              </a:rPr>
              <a:t> Here we will be using  Standard Scaler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3E029E-C65E-21CF-9F45-D1CADEEDB898}"/>
              </a:ext>
            </a:extLst>
          </p:cNvPr>
          <p:cNvSpPr txBox="1"/>
          <p:nvPr/>
        </p:nvSpPr>
        <p:spPr>
          <a:xfrm>
            <a:off x="837158" y="2954947"/>
            <a:ext cx="424927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Time new roman"/>
                <a:cs typeface="Times New Roman" panose="02020603050405020304" pitchFamily="18" charset="0"/>
              </a:rPr>
              <a:t>Feature Engineering</a:t>
            </a:r>
          </a:p>
          <a:p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Time new roman"/>
                <a:cs typeface="Times New Roman" panose="02020603050405020304" pitchFamily="18" charset="0"/>
              </a:rPr>
              <a:t>PCA Technique </a:t>
            </a:r>
            <a:r>
              <a:rPr lang="en-US" sz="2800" dirty="0">
                <a:latin typeface="Time new roman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 new roman"/>
              </a:rPr>
              <a:t>Looking at the graph we can decide how much percentage we want and accordingly go for that much column numbers.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 new roman"/>
              </a:rPr>
              <a:t>here, we are taking 15 columns because they are giving more than 95% data.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9F49C5-39A4-474B-A660-76075FEB3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019" y="1796007"/>
            <a:ext cx="5134547" cy="326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592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C87C7C-0A2D-4B35-90EC-0B6505320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05" y="735502"/>
            <a:ext cx="9081974" cy="48471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 new roman"/>
              </a:rPr>
              <a:t>Model building :</a:t>
            </a:r>
            <a:endParaRPr lang="en-IN" dirty="0">
              <a:solidFill>
                <a:schemeClr val="bg1">
                  <a:lumMod val="50000"/>
                </a:schemeClr>
              </a:solidFill>
              <a:latin typeface="Time new roman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5D94F7-8768-4694-BB69-A636711F4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6304" y="1220218"/>
            <a:ext cx="10283453" cy="490227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 new roman"/>
              </a:rPr>
              <a:t>Techniques used :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 new roman"/>
              </a:rPr>
              <a:t>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 new roman"/>
                <a:cs typeface="Times New Roman" panose="02020603050405020304" pitchFamily="18" charset="0"/>
              </a:rPr>
              <a:t>Means, DBSCAN, Hierarchical.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 new roman"/>
                <a:cs typeface="Times New Roman" panose="02020603050405020304" pitchFamily="18" charset="0"/>
              </a:rPr>
              <a:t>Evaluation Metric: 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 new roman"/>
                <a:cs typeface="Times New Roman" panose="02020603050405020304" pitchFamily="18" charset="0"/>
              </a:rPr>
              <a:t>Silhouette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 new roman"/>
                <a:cs typeface="Times New Roman" panose="02020603050405020304" pitchFamily="18" charset="0"/>
              </a:rPr>
              <a:t>Dimensionality Reduction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 new roman"/>
                <a:cs typeface="Times New Roman" panose="02020603050405020304" pitchFamily="18" charset="0"/>
              </a:rPr>
              <a:t>: PCA for visualization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u="sng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u="sng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u="sng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u="sng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u="sng" dirty="0">
                <a:solidFill>
                  <a:schemeClr val="accent1">
                    <a:lumMod val="50000"/>
                  </a:schemeClr>
                </a:solidFill>
                <a:latin typeface="Time new roman"/>
                <a:cs typeface="Times New Roman" panose="02020603050405020304" pitchFamily="18" charset="0"/>
              </a:rPr>
              <a:t>Hierarchical Clustering with scaled data:</a:t>
            </a:r>
          </a:p>
          <a:p>
            <a:r>
              <a:rPr lang="en-US" sz="1600" dirty="0">
                <a:solidFill>
                  <a:srgbClr val="0070C0"/>
                </a:solidFill>
                <a:latin typeface="Time new roman"/>
              </a:rPr>
              <a:t> </a:t>
            </a:r>
            <a:r>
              <a:rPr lang="en-US" sz="1600" dirty="0">
                <a:latin typeface="Time new roman"/>
              </a:rPr>
              <a:t>Visualized with Dendrogram and Scatter plot.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 new roman"/>
              </a:rPr>
              <a:t>Scaled Data got a silhouette score - 0.4069002367119094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2DE851-F6E5-49F1-A72B-02E610009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107" y="781360"/>
            <a:ext cx="4942365" cy="25950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4D80C4-D9EB-4F8A-ABA0-C4CEAF1BC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986" y="3671357"/>
            <a:ext cx="4846771" cy="265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210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20FB7-F3A9-4A9C-AF2E-6178B5129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69" y="1089610"/>
            <a:ext cx="5594496" cy="14688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1600" u="sng" dirty="0">
                <a:solidFill>
                  <a:schemeClr val="accent1">
                    <a:lumMod val="50000"/>
                  </a:schemeClr>
                </a:solidFill>
                <a:latin typeface="Time new roman"/>
                <a:cs typeface="Times New Roman" panose="02020603050405020304" pitchFamily="18" charset="0"/>
              </a:rPr>
              <a:t>K-Means clustering on PCA Data:</a:t>
            </a:r>
            <a:br>
              <a:rPr lang="en-US" sz="1600" u="sng" dirty="0">
                <a:solidFill>
                  <a:schemeClr val="accent1">
                    <a:lumMod val="50000"/>
                  </a:schemeClr>
                </a:solidFill>
                <a:latin typeface="Time new roman"/>
                <a:cs typeface="Times New Roman" panose="02020603050405020304" pitchFamily="18" charset="0"/>
              </a:rPr>
            </a:br>
            <a:br>
              <a:rPr lang="en-US" sz="1600" u="sng" dirty="0">
                <a:solidFill>
                  <a:schemeClr val="accent1">
                    <a:lumMod val="50000"/>
                  </a:schemeClr>
                </a:solidFill>
                <a:latin typeface="Time new roman"/>
                <a:cs typeface="Times New Roman" panose="02020603050405020304" pitchFamily="18" charset="0"/>
              </a:rPr>
            </a:br>
            <a:r>
              <a:rPr lang="en-US" sz="1300" dirty="0">
                <a:latin typeface="Time new roman"/>
              </a:rPr>
              <a:t>By seeing the elbow curve considering 3 clusters.</a:t>
            </a:r>
            <a:br>
              <a:rPr lang="en-US" sz="1300" dirty="0">
                <a:latin typeface="Time new roman"/>
              </a:rPr>
            </a:br>
            <a:r>
              <a:rPr lang="en-US" sz="1300" dirty="0">
                <a:latin typeface="Time new roman"/>
              </a:rPr>
              <a:t>K Means with 4 Clusters we got silhouette score - 0.38589504828738286</a:t>
            </a:r>
            <a:br>
              <a:rPr lang="en-US" sz="1300" dirty="0">
                <a:latin typeface="Time new roman"/>
              </a:rPr>
            </a:br>
            <a:r>
              <a:rPr lang="en-US" sz="1300" dirty="0">
                <a:latin typeface="Time new roman"/>
              </a:rPr>
              <a:t>K Means with Clusters we got silhouette score -0.4592576382823015</a:t>
            </a:r>
            <a:br>
              <a:rPr lang="en-US" sz="1300" dirty="0">
                <a:latin typeface="Time new roman"/>
              </a:rPr>
            </a:br>
            <a:endParaRPr lang="en-IN" sz="1300" dirty="0">
              <a:latin typeface="Time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BB11D-920F-4A70-852D-9995A45D9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7569" y="3428999"/>
            <a:ext cx="6583324" cy="2195623"/>
          </a:xfrm>
        </p:spPr>
        <p:txBody>
          <a:bodyPr>
            <a:normAutofit fontScale="85000" lnSpcReduction="10000"/>
          </a:bodyPr>
          <a:lstStyle/>
          <a:p>
            <a:r>
              <a:rPr lang="en-US" sz="1900" u="sng" dirty="0">
                <a:solidFill>
                  <a:schemeClr val="accent1">
                    <a:lumMod val="50000"/>
                  </a:schemeClr>
                </a:solidFill>
                <a:latin typeface="Time new roman"/>
                <a:cs typeface="Times New Roman" panose="02020603050405020304" pitchFamily="18" charset="0"/>
              </a:rPr>
              <a:t>K-Means with PCA Data – 3 clusters:</a:t>
            </a:r>
          </a:p>
          <a:p>
            <a:endParaRPr lang="en-US" dirty="0">
              <a:solidFill>
                <a:srgbClr val="0070C0"/>
              </a:solidFill>
              <a:latin typeface="Time new roman"/>
            </a:endParaRPr>
          </a:p>
          <a:p>
            <a:r>
              <a:rPr lang="en-US" sz="1700" dirty="0">
                <a:latin typeface="Time new roman"/>
              </a:rPr>
              <a:t>By seeing the above elbow curve considering 3 clusters.</a:t>
            </a:r>
          </a:p>
          <a:p>
            <a:r>
              <a:rPr lang="en-US" sz="1700" dirty="0">
                <a:latin typeface="Time new roman"/>
              </a:rPr>
              <a:t>K Means with PCA Data - 2 Clusters we got silhouette score -0.4349454775483713</a:t>
            </a:r>
          </a:p>
          <a:p>
            <a:endParaRPr lang="en-US" sz="1700" dirty="0">
              <a:latin typeface="Time new roman"/>
            </a:endParaRPr>
          </a:p>
          <a:p>
            <a:r>
              <a:rPr lang="en-US" sz="1700" dirty="0">
                <a:latin typeface="Time new roman"/>
              </a:rPr>
              <a:t>K Means with PCA data - 4Clusters we got silhouette score -0.3016847742272087</a:t>
            </a:r>
          </a:p>
          <a:p>
            <a:endParaRPr lang="en-IN" dirty="0">
              <a:latin typeface="Time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C5B49D-9A00-4952-80B3-B855BFA40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162" y="682362"/>
            <a:ext cx="3839111" cy="2474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702272-61B9-4FF1-98FB-57C99E0DB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893" y="3302471"/>
            <a:ext cx="3752381" cy="287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871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11731-67E5-420F-B525-4EEDFDBCE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49" y="754912"/>
            <a:ext cx="9739423" cy="1701210"/>
          </a:xfrm>
        </p:spPr>
        <p:txBody>
          <a:bodyPr>
            <a:normAutofit/>
          </a:bodyPr>
          <a:lstStyle/>
          <a:p>
            <a:r>
              <a:rPr lang="en-US" sz="2000" u="sng" dirty="0">
                <a:solidFill>
                  <a:schemeClr val="accent1">
                    <a:lumMod val="50000"/>
                  </a:schemeClr>
                </a:solidFill>
                <a:latin typeface="Time new roman"/>
              </a:rPr>
              <a:t>DBSCAN</a:t>
            </a:r>
            <a:br>
              <a:rPr lang="en-US" sz="1700" dirty="0">
                <a:solidFill>
                  <a:schemeClr val="accent1">
                    <a:lumMod val="50000"/>
                  </a:schemeClr>
                </a:solidFill>
                <a:latin typeface="Time new roman"/>
              </a:rPr>
            </a:br>
            <a:r>
              <a:rPr lang="en-US" sz="1400" dirty="0">
                <a:latin typeface="Time new roman"/>
              </a:rPr>
              <a:t>Calculated distance by using the nearest neighbors method.</a:t>
            </a:r>
            <a:br>
              <a:rPr lang="en-US" sz="1400" dirty="0">
                <a:latin typeface="Time new roman"/>
              </a:rPr>
            </a:br>
            <a:r>
              <a:rPr lang="en-US" sz="1400" dirty="0">
                <a:latin typeface="Time new roman"/>
              </a:rPr>
              <a:t>DBSCAN with Original Data - we got silhouette score -0.230808</a:t>
            </a:r>
            <a:br>
              <a:rPr lang="en-US" sz="1400" dirty="0">
                <a:latin typeface="Time new roman"/>
              </a:rPr>
            </a:br>
            <a:r>
              <a:rPr lang="en-US" sz="1400" dirty="0">
                <a:latin typeface="Time new roman"/>
              </a:rPr>
              <a:t>DBSCAN with PCA Data - we got silhouette score -0.291135</a:t>
            </a:r>
            <a:br>
              <a:rPr lang="en-US" sz="1400" dirty="0">
                <a:latin typeface="Time new roman"/>
              </a:rPr>
            </a:br>
            <a:br>
              <a:rPr lang="en-US" sz="1400" dirty="0">
                <a:solidFill>
                  <a:schemeClr val="accent1">
                    <a:lumMod val="50000"/>
                  </a:schemeClr>
                </a:solidFill>
                <a:latin typeface="Time new roman"/>
              </a:rPr>
            </a:br>
            <a:br>
              <a:rPr lang="en-US" sz="1700" dirty="0">
                <a:solidFill>
                  <a:schemeClr val="accent1">
                    <a:lumMod val="50000"/>
                  </a:schemeClr>
                </a:solidFill>
                <a:latin typeface="Time new roman"/>
              </a:rPr>
            </a:br>
            <a:br>
              <a:rPr lang="en-US" sz="1700" dirty="0">
                <a:solidFill>
                  <a:schemeClr val="accent1">
                    <a:lumMod val="50000"/>
                  </a:schemeClr>
                </a:solidFill>
                <a:latin typeface="Time new roman"/>
              </a:rPr>
            </a:br>
            <a:endParaRPr lang="en-IN" sz="1700" dirty="0">
              <a:solidFill>
                <a:schemeClr val="accent1">
                  <a:lumMod val="50000"/>
                </a:schemeClr>
              </a:solidFill>
              <a:latin typeface="Time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09A670-2DF6-4971-869C-9739258BA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720" y="1924493"/>
            <a:ext cx="4423457" cy="3305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336F74-85A8-4D49-8456-6649B9D44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408" y="1924494"/>
            <a:ext cx="4862538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530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A7F10-D755-4B0B-AAFA-076D5E9CA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100" y="1011949"/>
            <a:ext cx="8305798" cy="551037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</a:pPr>
            <a:r>
              <a:rPr lang="en-US" sz="2000" dirty="0">
                <a:latin typeface="Time new roman"/>
              </a:rPr>
              <a:t>Deployment:</a:t>
            </a:r>
            <a:endParaRPr lang="en-IN" sz="2000" dirty="0">
              <a:latin typeface="Time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827A6-6A46-4D55-8455-638A1B541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0165" y="1562986"/>
            <a:ext cx="9411584" cy="3969133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final clustering application is deployed on a user-friendly platform 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deployed application will provide an interactive way for stakeholders to: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clusters and the countries within them.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defining characteristics of each cluster.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actionable insights from the data in real-time.</a:t>
            </a:r>
          </a:p>
          <a:p>
            <a:pPr marL="1143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0040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9F064EB-842F-D438-0C58-3305B2B1A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310896"/>
            <a:ext cx="11448288" cy="617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265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AB19D-E07B-4247-BE21-125B1C6D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>
                <a:latin typeface="Time new roman"/>
              </a:rPr>
              <a:t>Learnings:                                                   Future scope:</a:t>
            </a:r>
            <a:br>
              <a:rPr lang="en-US" sz="2400" dirty="0">
                <a:latin typeface="Time new roman"/>
              </a:rPr>
            </a:br>
            <a:br>
              <a:rPr lang="en-US" sz="2400" dirty="0">
                <a:latin typeface="Time new roman"/>
              </a:rPr>
            </a:br>
            <a:br>
              <a:rPr lang="en-US" sz="2400" dirty="0"/>
            </a:br>
            <a:br>
              <a:rPr lang="en-US" sz="2400" dirty="0"/>
            </a:br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EB60AB-B6CA-494F-928C-9DB1177485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insights into preprocessing socio-economic datasets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strong correlations among key development indicators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the application of clustering algorithms on real-world data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evaluate clustering performance using silhouette score and visualization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2042C4-BE46-4B71-BBFF-74C71F231A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Time new roman"/>
                <a:cs typeface="Times New Roman" panose="02020603050405020304" pitchFamily="18" charset="0"/>
              </a:rPr>
              <a:t>Extend analysis with time-series development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Time new roman"/>
                <a:cs typeface="Times New Roman" panose="02020603050405020304" pitchFamily="18" charset="0"/>
              </a:rPr>
              <a:t>Integrate environmental and governance indicators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Time new roman"/>
                <a:cs typeface="Times New Roman" panose="02020603050405020304" pitchFamily="18" charset="0"/>
              </a:rPr>
              <a:t>Use advanced clustering (Gaussian Mixture Models, Spectral Clustering)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Time new roman"/>
                <a:cs typeface="Times New Roman" panose="02020603050405020304" pitchFamily="18" charset="0"/>
              </a:rPr>
              <a:t>Apply supervised ML models for predictive analysis of country development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>
              <a:latin typeface="Time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64351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e7f7290842_2_19"/>
          <p:cNvSpPr txBox="1">
            <a:spLocks noGrp="1"/>
          </p:cNvSpPr>
          <p:nvPr>
            <p:ph type="ctrTitle"/>
          </p:nvPr>
        </p:nvSpPr>
        <p:spPr>
          <a:xfrm>
            <a:off x="3297120" y="4932085"/>
            <a:ext cx="4446572" cy="14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482AB"/>
              </a:buClr>
              <a:buSzPts val="3600"/>
              <a:buNone/>
            </a:pPr>
            <a:r>
              <a:rPr lang="en-US" sz="6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Thank You</a:t>
            </a:r>
            <a:endParaRPr sz="62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Arial Black"/>
              <a:cs typeface="Times New Roman" panose="02020603050405020304" pitchFamily="18" charset="0"/>
              <a:sym typeface="Arial Black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936</TotalTime>
  <Words>714</Words>
  <Application>Microsoft Office PowerPoint</Application>
  <PresentationFormat>Widescreen</PresentationFormat>
  <Paragraphs>85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Arial Black</vt:lpstr>
      <vt:lpstr>Noto Sans Symbols</vt:lpstr>
      <vt:lpstr>Tw Cen MT</vt:lpstr>
      <vt:lpstr>Wingdings 3</vt:lpstr>
      <vt:lpstr>Times New Roman</vt:lpstr>
      <vt:lpstr>Tw Cen MT Condensed</vt:lpstr>
      <vt:lpstr>Time new roman</vt:lpstr>
      <vt:lpstr>Wingdings</vt:lpstr>
      <vt:lpstr>Calibri</vt:lpstr>
      <vt:lpstr>Integral</vt:lpstr>
      <vt:lpstr>World Development Measurement</vt:lpstr>
      <vt:lpstr>Objective:</vt:lpstr>
      <vt:lpstr>        Project Flow:</vt:lpstr>
      <vt:lpstr>Data Set Details: </vt:lpstr>
      <vt:lpstr>Data Set:</vt:lpstr>
      <vt:lpstr>EDA:</vt:lpstr>
      <vt:lpstr>PowerPoint Presentation</vt:lpstr>
      <vt:lpstr>PowerPoint Presentation</vt:lpstr>
      <vt:lpstr>PowerPoint Presentation</vt:lpstr>
      <vt:lpstr>PowerPoint Presentation</vt:lpstr>
      <vt:lpstr>Model building :</vt:lpstr>
      <vt:lpstr>K-Means clustering on PCA Data:  By seeing the elbow curve considering 3 clusters. K Means with 4 Clusters we got silhouette score - 0.38589504828738286 K Means with Clusters we got silhouette score -0.4592576382823015 </vt:lpstr>
      <vt:lpstr>DBSCAN Calculated distance by using the nearest neighbors method. DBSCAN with Original Data - we got silhouette score -0.230808 DBSCAN with PCA Data - we got silhouette score -0.291135    </vt:lpstr>
      <vt:lpstr>Deployment:</vt:lpstr>
      <vt:lpstr>PowerPoint Presentation</vt:lpstr>
      <vt:lpstr>    Learnings:                                                   Future scope:  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Production In A Combined-cycle Power Plant</dc:title>
  <dc:creator>JAYSHREE BHOYAR</dc:creator>
  <cp:lastModifiedBy>saad faisal khan</cp:lastModifiedBy>
  <cp:revision>35</cp:revision>
  <dcterms:created xsi:type="dcterms:W3CDTF">2023-08-26T06:19:39Z</dcterms:created>
  <dcterms:modified xsi:type="dcterms:W3CDTF">2025-11-08T14:38:05Z</dcterms:modified>
</cp:coreProperties>
</file>